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597c5719e84822" /><Relationship Type="http://schemas.openxmlformats.org/officeDocument/2006/relationships/extended-properties" Target="/docProps/app.xml" Id="R73b66cee3b4748a7" /><Relationship Type="http://schemas.openxmlformats.org/officeDocument/2006/relationships/officeDocument" Target="/ppt/presentation.xml" Id="R3335bd18b536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57ab220af534333"/>
  </p:sldMasterIdLst>
  <p:notesMasterIdLst>
    <p:notesMasterId xmlns:r="http://schemas.openxmlformats.org/officeDocument/2006/relationships" r:id="R2666fcea096249b6"/>
  </p:notesMasterIdLst>
  <p:sldIdLst>
    <p:sldId xmlns:r="http://schemas.openxmlformats.org/officeDocument/2006/relationships" id="256" r:id="Rffbe3a5724c14a53"/>
    <p:sldId xmlns:r="http://schemas.openxmlformats.org/officeDocument/2006/relationships" id="257" r:id="R0fe17d18812847b3"/>
    <p:sldId xmlns:r="http://schemas.openxmlformats.org/officeDocument/2006/relationships" id="258" r:id="R7b0ba5b13fd34829"/>
    <p:sldId xmlns:r="http://schemas.openxmlformats.org/officeDocument/2006/relationships" id="259" r:id="R2378879a226e4053"/>
    <p:sldId xmlns:r="http://schemas.openxmlformats.org/officeDocument/2006/relationships" id="260" r:id="Rd2a72adb74414f09"/>
    <p:sldId xmlns:r="http://schemas.openxmlformats.org/officeDocument/2006/relationships" id="261" r:id="R3a9582717cb041d0"/>
    <p:sldId xmlns:r="http://schemas.openxmlformats.org/officeDocument/2006/relationships" id="262" r:id="R3af3be44630a4c2a"/>
    <p:sldId xmlns:r="http://schemas.openxmlformats.org/officeDocument/2006/relationships" id="263" r:id="Rd86686eb0e634bf7"/>
    <p:sldId xmlns:r="http://schemas.openxmlformats.org/officeDocument/2006/relationships" id="264" r:id="Rfd7550cbdcbc489a"/>
    <p:sldId xmlns:r="http://schemas.openxmlformats.org/officeDocument/2006/relationships" id="265" r:id="Rb4d665ca0ca84bbd"/>
    <p:sldId xmlns:r="http://schemas.openxmlformats.org/officeDocument/2006/relationships" id="266" r:id="R36d329b775614de7"/>
    <p:sldId xmlns:r="http://schemas.openxmlformats.org/officeDocument/2006/relationships" id="267" r:id="R4879bae2d5d5463e"/>
    <p:sldId xmlns:r="http://schemas.openxmlformats.org/officeDocument/2006/relationships" id="268" r:id="R8eb35f5da2054917"/>
    <p:sldId xmlns:r="http://schemas.openxmlformats.org/officeDocument/2006/relationships" id="269" r:id="R1aec32eb0c494a22"/>
  </p:sldIdLst>
  <p:sldSz cx="1219169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6bff4e9df0441c" /><Relationship Type="http://schemas.openxmlformats.org/officeDocument/2006/relationships/slideMaster" Target="/ppt/slideMasters/slideMaster1.xml" Id="Rf57ab220af534333" /><Relationship Type="http://schemas.openxmlformats.org/officeDocument/2006/relationships/notesMaster" Target="/ppt/notesMasters/notesMaster1.xml" Id="R2666fcea096249b6" /><Relationship Type="http://schemas.openxmlformats.org/officeDocument/2006/relationships/presProps" Target="/ppt/presProps.xml" Id="R40bea3698bf64000" /><Relationship Type="http://schemas.openxmlformats.org/officeDocument/2006/relationships/viewProps" Target="/ppt/viewProps.xml" Id="R7f6c8bb7bdf04e00" /><Relationship Type="http://schemas.openxmlformats.org/officeDocument/2006/relationships/tableStyles" Target="/ppt/tableStyles.xml" Id="R5e72271f411d4f76" /><Relationship Type="http://schemas.openxmlformats.org/officeDocument/2006/relationships/slide" Target="/ppt/slides/slide1.xml" Id="Rffbe3a5724c14a53" /><Relationship Type="http://schemas.openxmlformats.org/officeDocument/2006/relationships/slide" Target="/ppt/slides/slide2.xml" Id="R0fe17d18812847b3" /><Relationship Type="http://schemas.openxmlformats.org/officeDocument/2006/relationships/slide" Target="/ppt/slides/slide3.xml" Id="R7b0ba5b13fd34829" /><Relationship Type="http://schemas.openxmlformats.org/officeDocument/2006/relationships/slide" Target="/ppt/slides/slide4.xml" Id="R2378879a226e4053" /><Relationship Type="http://schemas.openxmlformats.org/officeDocument/2006/relationships/slide" Target="/ppt/slides/slide5.xml" Id="Rd2a72adb74414f09" /><Relationship Type="http://schemas.openxmlformats.org/officeDocument/2006/relationships/slide" Target="/ppt/slides/slide6.xml" Id="R3a9582717cb041d0" /><Relationship Type="http://schemas.openxmlformats.org/officeDocument/2006/relationships/slide" Target="/ppt/slides/slide7.xml" Id="R3af3be44630a4c2a" /><Relationship Type="http://schemas.openxmlformats.org/officeDocument/2006/relationships/slide" Target="/ppt/slides/slide8.xml" Id="Rd86686eb0e634bf7" /><Relationship Type="http://schemas.openxmlformats.org/officeDocument/2006/relationships/slide" Target="/ppt/slides/slide9.xml" Id="Rfd7550cbdcbc489a" /><Relationship Type="http://schemas.openxmlformats.org/officeDocument/2006/relationships/slide" Target="/ppt/slides/slide10.xml" Id="Rb4d665ca0ca84bbd" /><Relationship Type="http://schemas.openxmlformats.org/officeDocument/2006/relationships/slide" Target="/ppt/slides/slide11.xml" Id="R36d329b775614de7" /><Relationship Type="http://schemas.openxmlformats.org/officeDocument/2006/relationships/slide" Target="/ppt/slides/slide12.xml" Id="R4879bae2d5d5463e" /><Relationship Type="http://schemas.openxmlformats.org/officeDocument/2006/relationships/slide" Target="/ppt/slides/slide13.xml" Id="R8eb35f5da2054917" /><Relationship Type="http://schemas.openxmlformats.org/officeDocument/2006/relationships/slide" Target="/ppt/slides/slide14.xml" Id="R1aec32eb0c494a2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459cda281bb43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2cb01a720247e2" /><Relationship Type="http://schemas.openxmlformats.org/officeDocument/2006/relationships/notesMaster" Target="/ppt/notesMasters/notesMaster1.xml" Id="Ra86e02a155ed434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f306138e5340a1" /><Relationship Type="http://schemas.openxmlformats.org/officeDocument/2006/relationships/notesMaster" Target="/ppt/notesMasters/notesMaster1.xml" Id="Rf9079d7acafc47a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04ed1092d1f4d0c" /><Relationship Type="http://schemas.openxmlformats.org/officeDocument/2006/relationships/notesMaster" Target="/ppt/notesMasters/notesMaster1.xml" Id="R095c9a363b584e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c7f9ef52ba34fb2" /><Relationship Type="http://schemas.openxmlformats.org/officeDocument/2006/relationships/notesMaster" Target="/ppt/notesMasters/notesMaster1.xml" Id="Rcf4b77f803e544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8feb37ab104be3" /><Relationship Type="http://schemas.openxmlformats.org/officeDocument/2006/relationships/notesMaster" Target="/ppt/notesMasters/notesMaster1.xml" Id="Raedd5b1746c94b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97785cd08934c25" /><Relationship Type="http://schemas.openxmlformats.org/officeDocument/2006/relationships/notesMaster" Target="/ppt/notesMasters/notesMaster1.xml" Id="Rb7050679d4f347f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a02509de4a40a3" /><Relationship Type="http://schemas.openxmlformats.org/officeDocument/2006/relationships/notesMaster" Target="/ppt/notesMasters/notesMaster1.xml" Id="Rddd465c1ad4d45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59712cac65e4f8d" /><Relationship Type="http://schemas.openxmlformats.org/officeDocument/2006/relationships/notesMaster" Target="/ppt/notesMasters/notesMaster1.xml" Id="R164de9d1eb6c439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2a096e635e4264" /><Relationship Type="http://schemas.openxmlformats.org/officeDocument/2006/relationships/notesMaster" Target="/ppt/notesMasters/notesMaster1.xml" Id="R2d926ba3fd8747a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334bf32ca44a5" /><Relationship Type="http://schemas.openxmlformats.org/officeDocument/2006/relationships/notesMaster" Target="/ppt/notesMasters/notesMaster1.xml" Id="R014a315620df48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b963dada2f047e6" /><Relationship Type="http://schemas.openxmlformats.org/officeDocument/2006/relationships/notesMaster" Target="/ppt/notesMasters/notesMaster1.xml" Id="Rb6662c3c3ad74b2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119f787d0a4ed9" /><Relationship Type="http://schemas.openxmlformats.org/officeDocument/2006/relationships/notesMaster" Target="/ppt/notesMasters/notesMaster1.xml" Id="R9067ad84edc5450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ef14a66bb254f71" /><Relationship Type="http://schemas.openxmlformats.org/officeDocument/2006/relationships/notesMaster" Target="/ppt/notesMasters/notesMaster1.xml" Id="R083a971d906e4c8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b7110c1ef1a480e" /><Relationship Type="http://schemas.openxmlformats.org/officeDocument/2006/relationships/notesMaster" Target="/ppt/notesMasters/notesMaster1.xml" Id="Rda7129cd405749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33ea9cc8b1494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49f9615c88488a" /><Relationship Type="http://schemas.openxmlformats.org/officeDocument/2006/relationships/slideLayout" Target="/ppt/slideLayouts/slideLayout1.xml" Id="R4fe3897e35d340d0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fe3897e35d340d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f3c3de20f4c4e" /><Relationship Type="http://schemas.openxmlformats.org/officeDocument/2006/relationships/image" Target="/ppt/media/image.png" Id="Rfacd088edfd9490f" /><Relationship Type="http://schemas.openxmlformats.org/officeDocument/2006/relationships/image" Target="/ppt/media/image2.png" Id="R209c918e6d7542dc" /><Relationship Type="http://schemas.openxmlformats.org/officeDocument/2006/relationships/image" Target="/ppt/media/image3.png" Id="R70e6b0ea7f9d4005" /><Relationship Type="http://schemas.openxmlformats.org/officeDocument/2006/relationships/notesSlide" Target="/ppt/notesSlides/notesSlide1.xml" Id="R2ac7a21427634f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450173db3b4f4d" /><Relationship Type="http://schemas.openxmlformats.org/officeDocument/2006/relationships/notesSlide" Target="/ppt/notesSlides/notesSlide2.xml" Id="R09a856f339304c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4b3f122a148e3" /><Relationship Type="http://schemas.openxmlformats.org/officeDocument/2006/relationships/notesSlide" Target="/ppt/notesSlides/notesSlide3.xml" Id="Rf636fe64e4ad40e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767dbb5b04e45" /><Relationship Type="http://schemas.openxmlformats.org/officeDocument/2006/relationships/notesSlide" Target="/ppt/notesSlides/notesSlide4.xml" Id="R6f18e45ecc2d46a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acf1b716dc4a25" /><Relationship Type="http://schemas.openxmlformats.org/officeDocument/2006/relationships/image" Target="/ppt/media/image4.png" Id="Ra68d03632eb54f1c" /><Relationship Type="http://schemas.openxmlformats.org/officeDocument/2006/relationships/image" Target="/ppt/media/image5.png" Id="Rc449209686284807" /><Relationship Type="http://schemas.openxmlformats.org/officeDocument/2006/relationships/notesSlide" Target="/ppt/notesSlides/notesSlide5.xml" Id="Rff14b28efaef4b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a78ea00864b1d" /><Relationship Type="http://schemas.openxmlformats.org/officeDocument/2006/relationships/notesSlide" Target="/ppt/notesSlides/notesSlide6.xml" Id="R18b1b468f9d648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213d3768f48e6" /><Relationship Type="http://schemas.openxmlformats.org/officeDocument/2006/relationships/image" Target="/ppt/media/image6.png" Id="R319125466ca545bd" /><Relationship Type="http://schemas.openxmlformats.org/officeDocument/2006/relationships/image" Target="/ppt/media/image7.png" Id="Rcf132fa3fa79410f" /><Relationship Type="http://schemas.openxmlformats.org/officeDocument/2006/relationships/image" Target="/ppt/media/image8.png" Id="R1be4172f21694f47" /><Relationship Type="http://schemas.openxmlformats.org/officeDocument/2006/relationships/notesSlide" Target="/ppt/notesSlides/notesSlide7.xml" Id="Rb65216b5e5e940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cb7eb541a4f38" /><Relationship Type="http://schemas.openxmlformats.org/officeDocument/2006/relationships/image" Target="/ppt/media/image9.png" Id="R7b08bd39db7f4914" /><Relationship Type="http://schemas.openxmlformats.org/officeDocument/2006/relationships/image" Target="/ppt/media/image10.png" Id="R089b209bf8d943d6" /><Relationship Type="http://schemas.openxmlformats.org/officeDocument/2006/relationships/notesSlide" Target="/ppt/notesSlides/notesSlide8.xml" Id="R643834d43db5443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99369ae844d20" /><Relationship Type="http://schemas.openxmlformats.org/officeDocument/2006/relationships/image" Target="/ppt/media/image11.png" Id="R7e6d14b34fca4b9e" /><Relationship Type="http://schemas.openxmlformats.org/officeDocument/2006/relationships/image" Target="/ppt/media/image12.png" Id="R55de2423ff604972" /><Relationship Type="http://schemas.openxmlformats.org/officeDocument/2006/relationships/image" Target="/ppt/media/image13.png" Id="Rdd8825587349406a" /><Relationship Type="http://schemas.openxmlformats.org/officeDocument/2006/relationships/notesSlide" Target="/ppt/notesSlides/notesSlide9.xml" Id="R709e4a5a3b024f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86e6116c44738" /><Relationship Type="http://schemas.openxmlformats.org/officeDocument/2006/relationships/image" Target="/ppt/media/image14.png" Id="Ra5e357883c04457c" /><Relationship Type="http://schemas.openxmlformats.org/officeDocument/2006/relationships/image" Target="/ppt/media/image15.png" Id="R5d211bb1f5de415f" /><Relationship Type="http://schemas.openxmlformats.org/officeDocument/2006/relationships/image" Target="/ppt/media/image16.png" Id="Rddf3408a2bc34dcf" /><Relationship Type="http://schemas.openxmlformats.org/officeDocument/2006/relationships/image" Target="/ppt/media/image17.png" Id="Rcc32e6af959642b3" /><Relationship Type="http://schemas.openxmlformats.org/officeDocument/2006/relationships/notesSlide" Target="/ppt/notesSlides/notesSlide10.xml" Id="Rdbed6d86d67a486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700e7483af468b" /><Relationship Type="http://schemas.openxmlformats.org/officeDocument/2006/relationships/image" Target="/ppt/media/image18.png" Id="R8f0395376e1e4ac9" /><Relationship Type="http://schemas.openxmlformats.org/officeDocument/2006/relationships/image" Target="/ppt/media/image19.png" Id="Rac5a86e3bfff44dc" /><Relationship Type="http://schemas.openxmlformats.org/officeDocument/2006/relationships/image" Target="/ppt/media/image20.png" Id="Radc1f65e01174d73" /><Relationship Type="http://schemas.openxmlformats.org/officeDocument/2006/relationships/image" Target="/ppt/media/image21.png" Id="Rf85c744847574928" /><Relationship Type="http://schemas.openxmlformats.org/officeDocument/2006/relationships/image" Target="/ppt/media/image22.png" Id="Rd9407878e38b4755" /><Relationship Type="http://schemas.openxmlformats.org/officeDocument/2006/relationships/notesSlide" Target="/ppt/notesSlides/notesSlide11.xml" Id="Rc5735d29d3c54d8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23d15253a4584" /><Relationship Type="http://schemas.openxmlformats.org/officeDocument/2006/relationships/notesSlide" Target="/ppt/notesSlides/notesSlide12.xml" Id="R39eb2c6ce4524a2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aeb0d056f4a2a" /><Relationship Type="http://schemas.openxmlformats.org/officeDocument/2006/relationships/notesSlide" Target="/ppt/notesSlides/notesSlide13.xml" Id="R941a3849d7e5439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2d3195c46a40b7" /><Relationship Type="http://schemas.openxmlformats.org/officeDocument/2006/relationships/image" Target="/ppt/media/image23.png" Id="Rebb6b27862574db1" /><Relationship Type="http://schemas.openxmlformats.org/officeDocument/2006/relationships/image" Target="/ppt/media/image24.png" Id="R6f5b805eee304b26" /><Relationship Type="http://schemas.openxmlformats.org/officeDocument/2006/relationships/image" Target="/ppt/media/image25.png" Id="Rbd9c4e0957c14e8d" /><Relationship Type="http://schemas.openxmlformats.org/officeDocument/2006/relationships/notesSlide" Target="/ppt/notesSlides/notesSlide14.xml" Id="R0ee6af3a6558418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5AC1507-3BB9-4C71-8115-9AE7DFB4A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02920"/>
            <a:ext cx="1828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D33A47E-3E14-46BC-AD6F-43134C88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09728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MY MODULE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E0B64BC-EA12-48DA-AB96-8F715DB7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00200"/>
            <a:ext cx="5394960" cy="10789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3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Module 1: onboarding, profile and skill assessment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0A39FDE-9624-4170-92ED-7DE92BB7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2971800"/>
            <a:ext cx="4937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50">
                <a:solidFill>
                  <a:srgbClr val="58677D"/>
                </a:solidFill>
                <a:latin typeface="Arial"/>
                <a:ea typeface="Arial"/>
                <a:cs typeface="Arial"/>
              </a:rPr>
              <a:t>Registration, email verification, questionnaire, readiness level, and dashboard access.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B47D4C63-1E7E-4333-9AEB-F0D878EA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931920"/>
            <a:ext cx="498348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Core idea: pass a verified profile and user_level to later modules.</a:t>
            </a:r>
          </a:p>
        </p:txBody>
      </p:sp>
      <p:pic>
        <p:nvPicPr>
          <p:cNvPr id="2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cd088edfd9490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1829696"/>
            <a:ext cx="1691640" cy="3006585"/>
          </a:xfrm>
          <a:prstGeom xmlns:a="http://schemas.openxmlformats.org/drawingml/2006/main" prst="rect">
            <a:avLst/>
          </a:prstGeom>
        </p:spPr>
      </p:pic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9EC767B6-D89B-40A0-BB37-ACBD7C56C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596188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c918e6d7542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21040" y="1987153"/>
            <a:ext cx="1691640" cy="2691670"/>
          </a:xfrm>
          <a:prstGeom xmlns:a="http://schemas.openxmlformats.org/drawingml/2006/main" prst="rect">
            <a:avLst/>
          </a:prstGeom>
        </p:spPr>
      </p:pic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BA77C724-5391-4022-AD3C-F7EEEF0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596188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Verify</a:t>
            </a:r>
          </a:p>
        </p:txBody>
      </p:sp>
      <p:pic>
        <p:nvPicPr>
          <p:cNvPr id="2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6b0ea7f9d400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95560" y="1872800"/>
            <a:ext cx="1691640" cy="2920376"/>
          </a:xfrm>
          <a:prstGeom xmlns:a="http://schemas.openxmlformats.org/drawingml/2006/main" prst="rect">
            <a:avLst/>
          </a:prstGeom>
        </p:spPr>
      </p:pic>
      <p:sp>
        <p:nvSpPr>
          <p:cNvPr id="12" name="Text 7">
            <a:extLst xmlns:a="http://schemas.openxmlformats.org/drawingml/2006/main">
              <a:ext uri="{FF2B5EF4-FFF2-40B4-BE49-F238E27FC236}">
                <a16:creationId xmlns:a16="http://schemas.microsoft.com/office/drawing/2014/main" id="{AF5DB2E7-C2D1-4479-93C1-575657E47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5560" y="5961888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</p:spTree>
    <p:extLst>
      <p:ext uri="{BB962C8B-B14F-4D97-AF65-F5344CB8AC3E}">
        <p14:creationId xmlns:p14="http://schemas.microsoft.com/office/powerpoint/2010/main" val="13493456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FAB765A-113B-4FC7-9D43-2FC5599F1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F98EE22-167D-4364-BB83-9751197A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Module role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84DD625-66D1-48D9-973A-4837424D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6E61E36C-AA16-401F-8852-7EF0A452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9F39199-8A95-4503-A634-E47B22DD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1005840"/>
            <a:ext cx="534924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What my module does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69A2C2B-EB57-480F-82B6-4E5DCABA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16636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58677D"/>
                </a:solidFill>
                <a:latin typeface="Arial"/>
                <a:ea typeface="Arial"/>
                <a:cs typeface="Arial"/>
              </a:rPr>
              <a:t>Prepares users for personalized medical features.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E24748A-B208-430E-AC2F-60E06418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96012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01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Creates an account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6A36466-2304-485F-8A14-2731D4CF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6012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02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Verifies email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06B78AA-DE13-43EE-B277-ECA892BE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03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Collects 6 answers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A21AE998-C410-4F6F-A6B1-69549532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1460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04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Assigns a level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11A72F4-B546-44E4-8EC5-846DE8B8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406908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05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Saves the result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B5B612D-B618-46A0-AE58-0F2424484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69080"/>
            <a:ext cx="233172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06</a:t>
            </a:r>
          </a:p>
          <a:p xmlns:a="http://schemas.openxmlformats.org/drawingml/2006/main">
            <a:pPr marL="0" indent="0" algn="ctr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Opens the dashboard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30D20BEB-2E7A-4813-9811-75A209B2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794760"/>
            <a:ext cx="50292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Level: Beginner / Intermediate / Expert. It allows future guidance to be simpler or more advanced.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801C7F42-5F9F-4B0C-8469-F8EF2FBBE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4366142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0356790-6B0F-4C88-BDBA-C5EB3D508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763AA02-89B4-4BE1-8B18-D02FB64B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User flow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4E3B3A2-0F7A-48A7-AD6B-5F990828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BA79480-A782-4EBD-A2D8-5D7C3C469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E4B4975-EBEA-4B9D-BFED-5BCE7802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Core user journey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4429248-ED03-4997-852B-0BA43FE8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From initial registration to the dashboard and assessment retake.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9CCF614-93B7-41EE-91CF-E05F6A7FA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316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1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B484C0C2-67B4-438B-A61D-0B91268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42316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2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Verify email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325FC448-BB47-402B-B1E0-2FB8F40B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42316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3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Questionnaire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B6A3F138-185F-4DB5-941C-510F8F4C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048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4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23106FC-854B-47E3-95B6-6DE518E8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384048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5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F8A7EAE-5AC4-4D68-8331-665312EC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840480"/>
            <a:ext cx="297180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6</a:t>
            </a:r>
          </a:p>
          <a:p xmlns:a="http://schemas.openxmlformats.org/drawingml/2006/main">
            <a:pPr marL="0" indent="0" algn="ctr">
              <a:buNone/>
            </a:pPr>
            <a:r>
              <a:rPr sz="1320">
                <a:solidFill>
                  <a:srgbClr val="062B60"/>
                </a:solidFill>
                <a:latin typeface="Arial"/>
                <a:ea typeface="Arial"/>
                <a:cs typeface="Arial"/>
              </a:rPr>
              <a:t>Profile / Retake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8FF75CD-8D61-47C7-AA24-313FA543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5532120"/>
            <a:ext cx="30175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Public: /, /verify-email, /login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6F1E3F8-1B5F-4DB6-9584-9A6920D1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5532120"/>
            <a:ext cx="420624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Protected: /questionnaire, /assessment, /dashboard, /profile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A47C71A-A221-4EFA-8A26-2894C2EC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8512" y="5532120"/>
            <a:ext cx="26974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8586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JWT tokens protect private screens.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93D7C64-D4C3-4019-B92A-323D13F9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43987472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620555E-BF43-4CFE-922A-20837A60C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03A381-F6A3-423E-AC20-2337BEC4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Use case stories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35D29683-D3CD-4C20-AEBE-BC8F149D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0983371-1684-45F1-9079-EAD2AB82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E43B4B6-3C55-4BB8-BCA6-5C61B75E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User stories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E707CBC1-BE3E-40C5-AC9F-E4EBA7932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In brief: who wants to do what, and why.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D22E4D0-4DC3-4A2D-9B92-DB960B32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77440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Registration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create an account so I can save my profile.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D1F17879-B564-4D58-BF5A-7C9F8CE8A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377440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Email verification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verify my email so I can continue securely.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43A53F5C-5336-45C6-A1E0-C2B2076F7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377440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Questionnaire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answer the questions so I can receive a personalized level.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9A515454-4CC7-437B-AD78-7C34C40D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75888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Assessment result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see my level and its explanation.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D0F76180-F782-486B-B7F7-B1AD0A6D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675888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Profile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update my name, medical data, and password.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F54651CD-60C7-49A6-8236-898E5E96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75888"/>
            <a:ext cx="32461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Retake</a:t>
            </a:r>
          </a:p>
          <a:p xmlns:a="http://schemas.openxmlformats.org/drawingml/2006/main">
            <a:pPr marL="0" indent="0" algn="l">
              <a:buNone/>
            </a:pPr>
            <a:r>
              <a:rPr sz="1300">
                <a:solidFill>
                  <a:srgbClr val="0E2344"/>
                </a:solidFill>
                <a:latin typeface="Arial"/>
                <a:ea typeface="Arial"/>
                <a:cs typeface="Arial"/>
              </a:rPr>
              <a:t>I want to retake the questionnaire if my skills change.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075F27BB-6EA0-4444-A935-64C38F40D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57800"/>
            <a:ext cx="10424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Acceptance focus: valid data, clear errors, state persistence, and protected routes.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3597E8D6-6657-4446-A945-C1FFE9EEA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3738085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7E8E9D1-9FA2-40AD-891B-58AF5B9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5C58D7E-81A6-44AB-8F4D-C4ACFA4F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Success path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EC6545A9-8C03-4377-9454-97E2812A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4BF3DF2-04CE-4A64-8981-D69FA331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30CB44B-1831-4115-9FD9-C10A95D9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Success path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B22B1222-43C4-438B-86F2-AE92277ED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What happens when there are no errors.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D80B8C9B-9456-41F9-8B78-13CC1457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1720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1  Registration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name + email + strong password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CABAE91-B4D5-4FB3-83F5-A605C37E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331720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2  Verification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correct 6-digit code → JWT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97C856D9-871A-4F6C-A037-58D85695E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0712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3  Questionnaire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6 canonical answers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729F58C-4ED6-4A84-8615-B09381F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410712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4  Classification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level + confidence + explanation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633277F-168F-4F1D-AD56-6936592F2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9704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5  Persistence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user_profiles + assessment row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211BF9-6201-4B40-9471-69FBA61A2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489704"/>
            <a:ext cx="26060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6  Dashboard</a:t>
            </a:r>
          </a:p>
          <a:p xmlns:a="http://schemas.openxmlformats.org/drawingml/2006/main">
            <a:pPr marL="0" indent="0" algn="l">
              <a:buNone/>
            </a:pPr>
            <a:r>
              <a:rPr sz="1260">
                <a:solidFill>
                  <a:srgbClr val="0E2344"/>
                </a:solidFill>
                <a:latin typeface="Arial"/>
                <a:ea typeface="Arial"/>
                <a:cs typeface="Arial"/>
              </a:rPr>
              <a:t>latest level is shown</a:t>
            </a:r>
          </a:p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d03632eb54f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2016694"/>
            <a:ext cx="1874520" cy="3236093"/>
          </a:xfrm>
          <a:prstGeom xmlns:a="http://schemas.openxmlformats.org/drawingml/2006/main" prst="rect">
            <a:avLst/>
          </a:prstGeom>
        </p:spPr>
      </p:pic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771ADEA5-295C-4DF3-B93D-6066CEBD6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6217920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pic>
        <p:nvPicPr>
          <p:cNvPr id="3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492096862848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1999317"/>
            <a:ext cx="1874520" cy="3270846"/>
          </a:xfrm>
          <a:prstGeom xmlns:a="http://schemas.openxmlformats.org/drawingml/2006/main" prst="rect">
            <a:avLst/>
          </a:prstGeom>
        </p:spPr>
      </p:pic>
      <p:sp>
        <p:nvSpPr>
          <p:cNvPr id="17" name="Text 13">
            <a:extLst xmlns:a="http://schemas.openxmlformats.org/drawingml/2006/main">
              <a:ext uri="{FF2B5EF4-FFF2-40B4-BE49-F238E27FC236}">
                <a16:creationId xmlns:a16="http://schemas.microsoft.com/office/drawing/2014/main" id="{B4B5AF06-1148-40EE-B33F-347A37EB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6217920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sp>
        <p:nvSpPr>
          <p:cNvPr id="18" name="Text 14">
            <a:extLst xmlns:a="http://schemas.openxmlformats.org/drawingml/2006/main">
              <a:ext uri="{FF2B5EF4-FFF2-40B4-BE49-F238E27FC236}">
                <a16:creationId xmlns:a16="http://schemas.microsoft.com/office/drawing/2014/main" id="{E54E9379-5E35-43EA-9FD6-79F51D64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2554999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9D6AE02A-B5F9-4881-881C-E31EE0D4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80AABA6-2BD4-4D02-8ADD-A1FFC27A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Error paths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B3B4DF7-9BC9-4C2D-A40A-CD946F7B7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5185F58-AFCB-4D5E-8C16-988537EB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655A39D-DAAB-47C0-BF73-C5E0472E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Error paths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577094B-F3E0-4BE8-A1C8-23285CE7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An error should not break the flow.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A3BA0650-2989-4373-B59B-36890EB33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Register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invalid email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weak password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duplicate email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83A382D-8456-4ABC-A528-324785D5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233172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Verify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wrong code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expired code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resend needed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5F2A08E1-6143-4B72-BE0C-E8F890EE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233172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Login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wrong password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unverified account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expired token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5FACCE5F-A719-4E52-860B-7E42668CC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65760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Questionnaire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missing answer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invalid value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network error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8239EBF3-7B51-4D7A-B412-8819B0C3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7992" y="365760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Assessment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AI unavailable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fallback level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persistence error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AE4AED4D-855B-4336-8461-2EE87FA6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3657600"/>
            <a:ext cx="32461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DECE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Profile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token mismatch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password mismatch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validation error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14BA5AE2-9973-4482-807C-F6A315B8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5257800"/>
            <a:ext cx="1042416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Recovery pattern: show details → preserve entered data → offer retry / resend / login.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D64A0FF9-B2A6-4ADF-B0D0-531AE7D0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5837744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24D6A86-8593-413A-9D1A-4BEB5635A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4836843-3C64-4BAC-9470-05A6EBBB0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7FF4D02B-628F-47F5-A06D-6BB550FE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3B6DE-131A-4422-A637-3B67DCF3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46A44650-04C1-40C7-B99E-885649A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Database: Google BigQuery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55681659-95AC-4AC2-8A63-A3EF30260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Data is stored not only in frontend state, but also in separate database tables.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312436F-C1C6-4DE5-A675-A6CC1FDE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283464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Dataset</a:t>
            </a:r>
          </a:p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first_aid_ai_module1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E7D6B63-E657-4FCA-A247-363680E1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37560"/>
            <a:ext cx="283464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062B60"/>
                </a:solidFill>
                <a:latin typeface="Arial"/>
                <a:ea typeface="Arial"/>
                <a:cs typeface="Arial"/>
              </a:rPr>
              <a:t>user_profiles</a:t>
            </a:r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062B60"/>
                </a:solidFill>
                <a:latin typeface="Arial"/>
                <a:ea typeface="Arial"/>
                <a:cs typeface="Arial"/>
              </a:rPr>
              <a:t>Account, email verification, password hash, and current level.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8FEF36-EB74-41D0-B817-F3D8C26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526280"/>
            <a:ext cx="283464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062B60"/>
                </a:solidFill>
                <a:latin typeface="Arial"/>
                <a:ea typeface="Arial"/>
                <a:cs typeface="Arial"/>
              </a:rPr>
              <a:t>user_medical_profiles</a:t>
            </a:r>
          </a:p>
          <a:p xmlns:a="http://schemas.openxmlformats.org/drawingml/2006/main">
            <a:pPr marL="0" indent="0" algn="l">
              <a:buNone/>
            </a:pPr>
            <a:r>
              <a:rPr sz="1220">
                <a:solidFill>
                  <a:srgbClr val="062B60"/>
                </a:solidFill>
                <a:latin typeface="Arial"/>
                <a:ea typeface="Arial"/>
                <a:cs typeface="Arial"/>
              </a:rPr>
              <a:t>Optional medical data: age, sex, blood type, allergies, and medications.</a:t>
            </a:r>
          </a:p>
        </p:txBody>
      </p:sp>
      <p:pic>
        <p:nvPicPr>
          <p:cNvPr id="2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9125466ca545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4905" y="2240280"/>
            <a:ext cx="1894309" cy="1097280"/>
          </a:xfrm>
          <a:prstGeom xmlns:a="http://schemas.openxmlformats.org/drawingml/2006/main" prst="rect">
            <a:avLst/>
          </a:prstGeom>
        </p:spPr>
      </p:pic>
      <p:pic>
        <p:nvPicPr>
          <p:cNvPr id="2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132fa3fa7941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582486" y="1115568"/>
            <a:ext cx="2757268" cy="2487168"/>
          </a:xfrm>
          <a:prstGeom xmlns:a="http://schemas.openxmlformats.org/drawingml/2006/main" prst="rect">
            <a:avLst/>
          </a:prstGeom>
        </p:spPr>
      </p:pic>
      <p:pic>
        <p:nvPicPr>
          <p:cNvPr id="3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e4172f21694f4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7636965" y="3767328"/>
            <a:ext cx="2419709" cy="2331720"/>
          </a:xfrm>
          <a:prstGeom xmlns:a="http://schemas.openxmlformats.org/drawingml/2006/main" prst="rect">
            <a:avLst/>
          </a:prstGeom>
        </p:spPr>
      </p:pic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C709073A-7535-490C-A89D-871136146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806440"/>
            <a:ext cx="50749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7F1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8372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Core account data and sensitive medical profile data are stored in separate tables.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469C4F93-F85E-4955-B2E8-B88805212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2418609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47E908BB-D267-4BE9-BCBB-A4FF67EA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5B2A3FC-2065-4A6B-93B7-5D1E9B5E3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83F54A6-A509-42BD-91A6-54F90908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9519673-FF0C-4760-B005-1ED00005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E4882C19-1B67-4F90-AA0B-BC9DEA13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Assessment data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76123A1-ABAB-42B0-A79F-86112DCE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Separate tables store questionnaire results and password-reset data.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A700F93-9AE4-4DEE-8463-1680DC59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240280"/>
            <a:ext cx="37033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80">
                <a:solidFill>
                  <a:srgbClr val="062B60"/>
                </a:solidFill>
                <a:latin typeface="Arial"/>
                <a:ea typeface="Arial"/>
                <a:cs typeface="Arial"/>
              </a:rPr>
              <a:t>questionnaire_assessments_wide</a:t>
            </a:r>
          </a:p>
          <a:p xmlns:a="http://schemas.openxmlformats.org/drawingml/2006/main">
            <a:pPr marL="0" indent="0" algn="l">
              <a:buNone/>
            </a:pPr>
            <a:r>
              <a:rPr sz="1280">
                <a:solidFill>
                  <a:srgbClr val="062B60"/>
                </a:solidFill>
                <a:latin typeface="Arial"/>
                <a:ea typeface="Arial"/>
                <a:cs typeface="Arial"/>
              </a:rPr>
              <a:t>Stores 6 answers, level, confidence, classification_source, and created_ts.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E073CAAD-F2DF-4E7C-B62D-D6CAF1C8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493008"/>
            <a:ext cx="37033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80">
                <a:solidFill>
                  <a:srgbClr val="062B60"/>
                </a:solidFill>
                <a:latin typeface="Arial"/>
                <a:ea typeface="Arial"/>
                <a:cs typeface="Arial"/>
              </a:rPr>
              <a:t>password_reset_tokens</a:t>
            </a:r>
          </a:p>
          <a:p xmlns:a="http://schemas.openxmlformats.org/drawingml/2006/main">
            <a:pPr marL="0" indent="0" algn="l">
              <a:buNone/>
            </a:pPr>
            <a:r>
              <a:rPr sz="1280">
                <a:solidFill>
                  <a:srgbClr val="062B60"/>
                </a:solidFill>
                <a:latin typeface="Arial"/>
                <a:ea typeface="Arial"/>
                <a:cs typeface="Arial"/>
              </a:rPr>
              <a:t>Stores the reset-code hash, expiration time, used flag, and usage timestamp.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37B6F87-E649-4D4F-B9B0-81CF3F3A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736592"/>
            <a:ext cx="3703320" cy="960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62B60"/>
                </a:solidFill>
                <a:latin typeface="Arial"/>
                <a:ea typeface="Arial"/>
                <a:cs typeface="Arial"/>
              </a:rPr>
              <a:t>Why it matters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62B60"/>
                </a:solidFill>
                <a:latin typeface="Arial"/>
                <a:ea typeface="Arial"/>
                <a:cs typeface="Arial"/>
              </a:rPr>
              <a:t>• restores sessions and levels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62B60"/>
                </a:solidFill>
                <a:latin typeface="Arial"/>
                <a:ea typeface="Arial"/>
                <a:cs typeface="Arial"/>
              </a:rPr>
              <a:t>• supports questionnaire retakes</a:t>
            </a:r>
          </a:p>
          <a:p xmlns:a="http://schemas.openxmlformats.org/drawingml/2006/main">
            <a:pPr marL="0" indent="0" algn="l">
              <a:buNone/>
            </a:pPr>
            <a:r>
              <a:rPr sz="1240">
                <a:solidFill>
                  <a:srgbClr val="062B60"/>
                </a:solidFill>
                <a:latin typeface="Arial"/>
                <a:ea typeface="Arial"/>
                <a:cs typeface="Arial"/>
              </a:rPr>
              <a:t>• avoids relying only on browser storage</a:t>
            </a:r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08bd39db7f491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460741" y="1188720"/>
            <a:ext cx="3345694" cy="2560320"/>
          </a:xfrm>
          <a:prstGeom xmlns:a="http://schemas.openxmlformats.org/drawingml/2006/main" prst="rect">
            <a:avLst/>
          </a:prstGeom>
        </p:spPr>
      </p:pic>
      <p:pic>
        <p:nvPicPr>
          <p:cNvPr id="2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9b209bf8d943d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6874387" y="4005072"/>
            <a:ext cx="2518401" cy="1755648"/>
          </a:xfrm>
          <a:prstGeom xmlns:a="http://schemas.openxmlformats.org/drawingml/2006/main" prst="rect">
            <a:avLst/>
          </a:prstGeom>
        </p:spPr>
      </p:pic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A7CA2AAB-E693-4E3A-9F99-1D10C27D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37799450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7003BE4-C776-4F3B-816B-1039971C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3D077B9-5E12-408C-BB07-24522138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Core screens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44B62BDA-83AA-4FD6-A3B8-278A9B85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2FFAB602-8C7D-49E1-95C9-91D8B75D4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83B253F-954D-4AC6-8CAD-6A667170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Auth screens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1DD0BFC-F2A4-4E1B-842D-ADE708C6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Register → Verify Email → Sign In.</a:t>
            </a:r>
          </a:p>
        </p:txBody>
      </p:sp>
      <p:pic>
        <p:nvPicPr>
          <p:cNvPr id="2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6d14b34fca4b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327619"/>
            <a:ext cx="2057400" cy="3656657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664FCC9-576A-496C-ADB4-4D93491F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144768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pic>
        <p:nvPicPr>
          <p:cNvPr id="2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de2423ff60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86200" y="2519121"/>
            <a:ext cx="2057400" cy="3273653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9A453C97-EAB3-4064-9C77-05337F8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6144768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Verify Email</a:t>
            </a:r>
          </a:p>
        </p:txBody>
      </p:sp>
      <p:pic>
        <p:nvPicPr>
          <p:cNvPr id="29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882558734940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3720" y="2418824"/>
            <a:ext cx="2057400" cy="3474249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2848AE11-1735-4676-84A4-F0487BB9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6144768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Sign In</a:t>
            </a:r>
          </a:p>
        </p:txBody>
      </p:sp>
      <p:sp>
        <p:nvSpPr>
          <p:cNvPr id="14" name="Text 9">
            <a:extLst xmlns:a="http://schemas.openxmlformats.org/drawingml/2006/main">
              <a:ext uri="{FF2B5EF4-FFF2-40B4-BE49-F238E27FC236}">
                <a16:creationId xmlns:a16="http://schemas.microsoft.com/office/drawing/2014/main" id="{E5942F44-E1B5-4709-B5CC-4BB02F6A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487168"/>
            <a:ext cx="1783080" cy="1965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Key features:
compact cards,
fixed top bar,
password toggle,
resend code,
forgot password.</a:t>
            </a:r>
          </a:p>
        </p:txBody>
      </p:sp>
      <p:sp>
        <p:nvSpPr>
          <p:cNvPr id="15" name="Text 10">
            <a:extLst xmlns:a="http://schemas.openxmlformats.org/drawingml/2006/main">
              <a:ext uri="{FF2B5EF4-FFF2-40B4-BE49-F238E27FC236}">
                <a16:creationId xmlns:a16="http://schemas.microsoft.com/office/drawing/2014/main" id="{E0508F1D-7960-4B7F-88D0-C8C7502F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25027613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F73BC2C-E452-49DC-B153-FEE4D756E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B3A9161-C799-413E-B531-0021F00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Core screens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F9A3607-1B90-4F73-BBB5-C292316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A07DF34-0932-4FC8-A4B8-21281ED3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60AF3A5-CFA1-476F-BD5C-489691F62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Questionnaire + result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BEE6508-6F99-414D-B137-9CB58F268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6 steps, safe skipping, and a clear result.</a:t>
            </a:r>
          </a:p>
        </p:txBody>
      </p:sp>
      <p:pic>
        <p:nvPicPr>
          <p:cNvPr id="2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e357883c04457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2198192"/>
            <a:ext cx="1965960" cy="3467457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50D1880-34AF-4639-BCD2-AD5B841E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612648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Step</a:t>
            </a:r>
          </a:p>
        </p:txBody>
      </p:sp>
      <p:pic>
        <p:nvPicPr>
          <p:cNvPr id="3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211bb1f5de415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71800" y="2262599"/>
            <a:ext cx="1965960" cy="3338642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A50BA216-FEC2-4532-B1D4-B3BB1B618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612648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pic>
        <p:nvPicPr>
          <p:cNvPr id="3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f3408a2bc34dc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6360" y="2234944"/>
            <a:ext cx="1965960" cy="3393951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64156B86-BB79-4997-B41D-CFE58CD1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6360" y="612648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Result</a:t>
            </a:r>
          </a:p>
        </p:txBody>
      </p:sp>
      <p:pic>
        <p:nvPicPr>
          <p:cNvPr id="3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2e6af959642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0920" y="2240960"/>
            <a:ext cx="1965960" cy="3381919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9F3374AD-9C4F-4FBC-8EA4-F0BB44A7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0920" y="6126480"/>
            <a:ext cx="1965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Actions</a:t>
            </a:r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882A36E0-AB0F-41E1-BC18-360AECA96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2423160"/>
            <a:ext cx="1691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Skip → Beginner as the safe default.</a:t>
            </a:r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2B6CD257-1D64-4B1B-9E09-9EB1CD1B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703320"/>
            <a:ext cx="169164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Retake → a new result and updated level.</a:t>
            </a:r>
          </a:p>
        </p:txBody>
      </p:sp>
      <p:sp>
        <p:nvSpPr>
          <p:cNvPr id="18" name="Text 12">
            <a:extLst xmlns:a="http://schemas.openxmlformats.org/drawingml/2006/main">
              <a:ext uri="{FF2B5EF4-FFF2-40B4-BE49-F238E27FC236}">
                <a16:creationId xmlns:a16="http://schemas.microsoft.com/office/drawing/2014/main" id="{780A950C-B170-44BF-B2EE-5FBF6933C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4108750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8D43A9A4-5385-474B-9705-01BFA3DA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7E025D0-9D6D-4BC4-B928-244FD919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Core screens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9201870A-AEC6-4AE7-A578-5BB53B08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71F08F-760F-45E9-9ADD-1E01862F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C6DFCE6-C825-4241-B197-723034E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Dashboard + profile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0C24378-C7C5-4630-903F-68D39BCE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After onboarding, users manage their data and continue to other features.</a:t>
            </a:r>
          </a:p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395376e1e4a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372251"/>
            <a:ext cx="1783080" cy="3165058"/>
          </a:xfrm>
          <a:prstGeom xmlns:a="http://schemas.openxmlformats.org/drawingml/2006/main" prst="rect">
            <a:avLst/>
          </a:prstGeom>
        </p:spPr>
      </p:pic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5487B19-DD63-43D6-A68C-91521C40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648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Home</a:t>
            </a:r>
          </a:p>
        </p:txBody>
      </p:sp>
      <p:pic>
        <p:nvPicPr>
          <p:cNvPr id="3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5a86e3bfff44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06040" y="2399134"/>
            <a:ext cx="1783080" cy="3111293"/>
          </a:xfrm>
          <a:prstGeom xmlns:a="http://schemas.openxmlformats.org/drawingml/2006/main" prst="rect">
            <a:avLst/>
          </a:prstGeom>
        </p:spPr>
      </p:pic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3BFA59E1-1752-41EE-AE9D-B9539E3E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612648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pic>
        <p:nvPicPr>
          <p:cNvPr id="3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c1f65e01174d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26280" y="2407538"/>
            <a:ext cx="1783080" cy="3094484"/>
          </a:xfrm>
          <a:prstGeom xmlns:a="http://schemas.openxmlformats.org/drawingml/2006/main" prst="rect">
            <a:avLst/>
          </a:prstGeom>
        </p:spPr>
      </p:pic>
      <p:sp>
        <p:nvSpPr>
          <p:cNvPr id="13" name="Text 8">
            <a:extLst xmlns:a="http://schemas.openxmlformats.org/drawingml/2006/main">
              <a:ext uri="{FF2B5EF4-FFF2-40B4-BE49-F238E27FC236}">
                <a16:creationId xmlns:a16="http://schemas.microsoft.com/office/drawing/2014/main" id="{FBAF89FC-3EC0-4621-BA2D-993970CF3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612648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Account</a:t>
            </a:r>
          </a:p>
        </p:txBody>
      </p:sp>
      <p:pic>
        <p:nvPicPr>
          <p:cNvPr id="37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5c7448475749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46520" y="2367404"/>
            <a:ext cx="1783080" cy="3174752"/>
          </a:xfrm>
          <a:prstGeom xmlns:a="http://schemas.openxmlformats.org/drawingml/2006/main" prst="rect">
            <a:avLst/>
          </a:prstGeom>
        </p:spPr>
      </p:pic>
      <p:sp>
        <p:nvSpPr>
          <p:cNvPr id="15" name="Text 9">
            <a:extLst xmlns:a="http://schemas.openxmlformats.org/drawingml/2006/main">
              <a:ext uri="{FF2B5EF4-FFF2-40B4-BE49-F238E27FC236}">
                <a16:creationId xmlns:a16="http://schemas.microsoft.com/office/drawing/2014/main" id="{85F3A363-4B59-43D8-A963-B553A022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612648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Medical</a:t>
            </a:r>
          </a:p>
        </p:txBody>
      </p:sp>
      <p:pic>
        <p:nvPicPr>
          <p:cNvPr id="3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07878e38b47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66760" y="2406502"/>
            <a:ext cx="1783080" cy="3096557"/>
          </a:xfrm>
          <a:prstGeom xmlns:a="http://schemas.openxmlformats.org/drawingml/2006/main" prst="rect">
            <a:avLst/>
          </a:prstGeom>
        </p:spPr>
      </p:pic>
      <p:sp>
        <p:nvSpPr>
          <p:cNvPr id="17" name="Text 10">
            <a:extLst xmlns:a="http://schemas.openxmlformats.org/drawingml/2006/main">
              <a:ext uri="{FF2B5EF4-FFF2-40B4-BE49-F238E27FC236}">
                <a16:creationId xmlns:a16="http://schemas.microsoft.com/office/drawing/2014/main" id="{43F31654-80A9-4EDB-97E6-0940467E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6126480"/>
            <a:ext cx="1783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Security</a:t>
            </a:r>
          </a:p>
        </p:txBody>
      </p:sp>
      <p:sp>
        <p:nvSpPr>
          <p:cNvPr id="18" name="Text 11">
            <a:extLst xmlns:a="http://schemas.openxmlformats.org/drawingml/2006/main">
              <a:ext uri="{FF2B5EF4-FFF2-40B4-BE49-F238E27FC236}">
                <a16:creationId xmlns:a16="http://schemas.microsoft.com/office/drawing/2014/main" id="{5F26772E-24C9-4045-B0C1-B93F6756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0" y="2560320"/>
            <a:ext cx="11430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9286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The profile must be easy to use because it contains sensitive medical data.</a:t>
            </a:r>
          </a:p>
        </p:txBody>
      </p:sp>
      <p:sp>
        <p:nvSpPr>
          <p:cNvPr id="19" name="Text 12">
            <a:extLst xmlns:a="http://schemas.openxmlformats.org/drawingml/2006/main">
              <a:ext uri="{FF2B5EF4-FFF2-40B4-BE49-F238E27FC236}">
                <a16:creationId xmlns:a16="http://schemas.microsoft.com/office/drawing/2014/main" id="{69A6C7AB-C4BE-4206-8105-A7325455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3868748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2D6AF25-5CE5-4D5E-934F-DCB65F7A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97943A8-3658-4E2A-84D6-FA6FEA77D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Technologies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8318469-CD7C-4405-96A0-BA0FEF98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FB4723C3-37A6-4B34-981C-61E7F64F2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2783A82-49CE-48BC-990B-CFE744AA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Technology stack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CF9A923-E74C-4CC3-BFC7-4C9F229D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Technologies used in the implementation.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8A741A0F-EA33-45DD-A853-2DAF46B27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42316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Frontend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React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TypeScript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Vite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05DBE2E-09D7-45A7-A990-04168AD8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42316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Python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REST API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E10BE00E-6A55-455D-97F7-59AD69DC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42316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Database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Google BigQuery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user_profiles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questionnaire_assessments_wide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69DD5C27-0AD7-44B5-ADEF-5849CB98D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242316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Auth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JWT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PBKDF2 hash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protected routes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20A902E9-0364-472D-990B-F88D97C1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4048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Email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SMTP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console demo mode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6-digit code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7310C62-7FFE-49D3-9855-5F004932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84048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AI / fallback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Groq API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local rules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deterministic fallback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97E20DB4-0CC5-4F48-80B4-D4F6F8C8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384048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Testing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pytest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Vitest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React Testing Library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1CDB832-2F0A-4880-8009-38E7BF92E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9992" y="3840480"/>
            <a:ext cx="2331720" cy="10058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Demo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ngrok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local frontend</a:t>
            </a:r>
          </a:p>
          <a:p xmlns:a="http://schemas.openxmlformats.org/drawingml/2006/main">
            <a:pPr marL="0" indent="0" algn="ctr">
              <a:buNone/>
            </a:pPr>
            <a:r>
              <a:rPr sz="1240">
                <a:solidFill>
                  <a:srgbClr val="0E2344"/>
                </a:solidFill>
                <a:latin typeface="Arial"/>
                <a:ea typeface="Arial"/>
                <a:cs typeface="Arial"/>
              </a:rPr>
              <a:t>local backend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B182B8E-17C7-4237-AE4B-369E021B4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15000"/>
            <a:ext cx="1024128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20">
                <a:solidFill>
                  <a:srgbClr val="062B60"/>
                </a:solidFill>
                <a:latin typeface="Arial"/>
                <a:ea typeface="Arial"/>
                <a:cs typeface="Arial"/>
              </a:rPr>
              <a:t>Core principle: external AI never blocks the user because a stable fallback is always available.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0126A563-3F0A-44F5-88DB-EABDEBFCA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18210466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1E7A2DD-2D5F-4792-B521-A42E088C6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28600"/>
            <a:ext cx="14173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First Aid AI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C0D2D0C-6BA4-4CB7-8789-C7BE59E0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19456"/>
            <a:ext cx="7223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8677D"/>
                </a:solidFill>
                <a:latin typeface="Arial"/>
                <a:ea typeface="Arial"/>
                <a:cs typeface="Arial"/>
              </a:rPr>
              <a:t>Potential improvements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E886DB4-0AF0-4F6F-9444-4A7160C92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0" y="219456"/>
            <a:ext cx="548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15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7C85D0C-65DC-48E0-B6B4-C2680768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03504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8E2F2">
                <a:alpha val="85000"/>
              </a:srgbClr>
            </a:solidFill>
            <a:prstDash val="solid"/>
          </a:ln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CF269FD-04AA-4F38-9E02-4E64ADD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877824"/>
            <a:ext cx="5349240" cy="6583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What else may be needed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DA19201-17A1-4E61-9446-FBABE147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4208"/>
            <a:ext cx="525780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58677D"/>
                </a:solidFill>
                <a:latin typeface="Arial"/>
                <a:ea typeface="Arial"/>
                <a:cs typeface="Arial"/>
              </a:rPr>
              <a:t>Five concise points for the project defense.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F2BB5AA2-88BB-4A7A-9809-0AD82D21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304288"/>
            <a:ext cx="1028700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>
                <a:solidFill>
                  <a:srgbClr val="062B60"/>
                </a:solidFill>
                <a:latin typeface="Arial"/>
                <a:ea typeface="Arial"/>
                <a:cs typeface="Arial"/>
              </a:rPr>
              <a:t>1. The module already implements onboarding: registration, email verification, questionnaire, and dashboard.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C5128D3B-C18B-44CB-A0A6-36B574DD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99232"/>
            <a:ext cx="1028700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>
                <a:solidFill>
                  <a:srgbClr val="062B60"/>
                </a:solidFill>
                <a:latin typeface="Arial"/>
                <a:ea typeface="Arial"/>
                <a:cs typeface="Arial"/>
              </a:rPr>
              <a:t>2. For production, add rate limiting for verification codes and password reset.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8103F83-5961-4434-919E-7B263F5F3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694176"/>
            <a:ext cx="1028700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>
                <a:solidFill>
                  <a:srgbClr val="062B60"/>
                </a:solidFill>
                <a:latin typeface="Arial"/>
                <a:ea typeface="Arial"/>
                <a:cs typeface="Arial"/>
              </a:rPr>
              <a:t>3. The medical profile requires explicit user consent before storing sensitive data.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0FC3A1CE-FBAA-4757-9E8E-0DD03FE71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389120"/>
            <a:ext cx="1028700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>
                <a:solidFill>
                  <a:srgbClr val="062B60"/>
                </a:solidFill>
                <a:latin typeface="Arial"/>
                <a:ea typeface="Arial"/>
                <a:cs typeface="Arial"/>
              </a:rPr>
              <a:t>4. Password reset requires complete testing: code, expiration, resending, and used tokens.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411277A-0556-4E7B-B894-279A429D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84064"/>
            <a:ext cx="10287000" cy="49377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450">
                <a:solidFill>
                  <a:srgbClr val="062B60"/>
                </a:solidFill>
                <a:latin typeface="Arial"/>
                <a:ea typeface="Arial"/>
                <a:cs typeface="Arial"/>
              </a:rPr>
              <a:t>5. The next important step is end-to-end testing from registration through assessment retake.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00E7D69-776C-4B2B-BEEE-55102167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547104"/>
            <a:ext cx="28346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7B8797"/>
                </a:solidFill>
                <a:latin typeface="Arial"/>
                <a:ea typeface="Arial"/>
                <a:cs typeface="Arial"/>
              </a:rPr>
              <a:t>Module 1 · First Aid AI</a:t>
            </a:r>
          </a:p>
        </p:txBody>
      </p:sp>
    </p:spTree>
    <p:extLst>
      <p:ext uri="{BB962C8B-B14F-4D97-AF65-F5344CB8AC3E}">
        <p14:creationId xmlns:p14="http://schemas.microsoft.com/office/powerpoint/2010/main" val="8410498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090F3A01-1AC4-4504-9082-16675308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286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0047AB"/>
                </a:solidFill>
                <a:latin typeface="Arial"/>
                <a:ea typeface="Arial"/>
                <a:cs typeface="Arial"/>
              </a:rPr>
              <a:t>Module 1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1B4EDEB8-76DB-4A69-AE57-B8C69763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25880"/>
            <a:ext cx="5029200" cy="594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A5E879B-1BD2-4C10-B822-C17803383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31720"/>
            <a:ext cx="50292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062B60"/>
                </a:solidFill>
                <a:latin typeface="Arial"/>
                <a:ea typeface="Arial"/>
                <a:cs typeface="Arial"/>
              </a:rPr>
              <a:t>My module creates a verified account, determines user_level, and establishes a foundation for personalized first-aid guidance.</a:t>
            </a:r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34C24F9-DCC4-4FDE-BAB2-B37C73A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703320"/>
            <a:ext cx="5029200" cy="914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EBFF"/>
          </a:solidFill>
          <a:ln xmlns:a="http://schemas.openxmlformats.org/drawingml/2006/main" w="12700">
            <a:solidFill>
              <a:srgbClr val="D8E2F2"/>
            </a:solidFill>
          </a:ln>
          <a:effectLst xmlns:a="http://schemas.openxmlformats.org/drawingml/2006/main">
            <a:outerShdw blurRad="25400" dist="50800" dir="2700000" sx="100000" sy="100000" kx="0" ky="0" algn="bl" rotWithShape="0">
              <a:srgbClr val="D7E2F1">
                <a:alpha val="16000"/>
              </a:srgbClr>
            </a:outerShdw>
          </a:effectLst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Core output</a:t>
            </a:r>
          </a:p>
          <a:p xmlns:a="http://schemas.openxmlformats.org/drawingml/2006/main">
            <a:pPr marL="0" indent="0" algn="l">
              <a:buNone/>
            </a:pPr>
            <a:r>
              <a:rPr sz="1550">
                <a:solidFill>
                  <a:srgbClr val="062B60"/>
                </a:solidFill>
                <a:latin typeface="Arial"/>
                <a:ea typeface="Arial"/>
                <a:cs typeface="Arial"/>
              </a:rPr>
              <a:t>verified user • profile • medical context • readiness level • assessment history</a:t>
            </a:r>
          </a:p>
        </p:txBody>
      </p:sp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b6b2786257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83680" y="1856325"/>
            <a:ext cx="1828800" cy="3191069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84596FD-724C-43AC-9100-E695206CD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6172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Dashboard</a:t>
            </a:r>
          </a:p>
        </p:txBody>
      </p:sp>
      <p:pic>
        <p:nvPicPr>
          <p:cNvPr id="2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b805eee304b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41080" y="1823782"/>
            <a:ext cx="1828800" cy="3256156"/>
          </a:xfrm>
          <a:prstGeom xmlns:a="http://schemas.openxmlformats.org/drawingml/2006/main" prst="rect">
            <a:avLst/>
          </a:prstGeom>
        </p:spPr>
      </p:pic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3D4F503F-4C2C-41AF-B669-6169E19D2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6172200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Profile</a:t>
            </a:r>
          </a:p>
        </p:txBody>
      </p:sp>
      <p:pic>
        <p:nvPicPr>
          <p:cNvPr id="2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c4e0957c14e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98480" y="2307388"/>
            <a:ext cx="1325880" cy="2288944"/>
          </a:xfrm>
          <a:prstGeom xmlns:a="http://schemas.openxmlformats.org/drawingml/2006/main" prst="rect">
            <a:avLst/>
          </a:prstGeom>
        </p:spPr>
      </p:pic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4D86C572-0EB8-448A-A858-8BB64DF4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8480" y="6172200"/>
            <a:ext cx="13258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62B60"/>
                </a:solidFill>
                <a:latin typeface="Arial"/>
                <a:ea typeface="Arial"/>
                <a:cs typeface="Arial"/>
              </a:rPr>
              <a:t>Level</a:t>
            </a:r>
          </a:p>
        </p:txBody>
      </p:sp>
    </p:spTree>
    <p:extLst>
      <p:ext uri="{BB962C8B-B14F-4D97-AF65-F5344CB8AC3E}">
        <p14:creationId xmlns:p14="http://schemas.microsoft.com/office/powerpoint/2010/main" val="171923697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2026-07-30T20:59:51.0850000Z</dcterms:created>
  <dcterms:modified xsi:type="dcterms:W3CDTF">2026-07-30T20:59:51.0850000Z</dcterms:modified>
</coreProperties>
</file>